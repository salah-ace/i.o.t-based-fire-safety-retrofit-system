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4BA563B-939F-41CB-9A91-53BBDD1713C1}">
  <a:tblStyle styleId="{34BA563B-939F-41CB-9A91-53BBDD1713C1}" styleName="Table_0">
    <a:wholeTbl>
      <a:tcTxStyle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  <a:fill>
          <a:solidFill>
            <a:srgbClr val="CFD7E7"/>
          </a:solidFill>
        </a:fill>
      </a:tcStyle>
    </a:band2V>
    <a:lastCol>
      <a:tcTxStyle i="off" b="on"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i="off" b="on"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i="off" b="on"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i="off" b="on"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32742" name="Google Shape;3;n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5711293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874694" name="Google Shape;81;p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76313185" name="Google Shape;82;p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65519" name="Google Shape;90;p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27573364" name="Google Shape;91;p2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498105" name="Google Shape;98;p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02684241" name="Google Shape;99;p3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478316" name="Google Shape;109;p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35224911" name="Google Shape;110;p4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93900" name="Google Shape;128;p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3615213" name="Google Shape;129;p5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834936" name="Google Shape;145;p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24484702" name="Google Shape;146;p6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520920" name="Google Shape;153;p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4361596" name="Google Shape;154;p7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334164" name="Google Shape;166;p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18046173" name="Google Shape;167;p8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222788" name="Google Shape;181;p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15641262" name="Google Shape;182;p9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326097" name="Google Shape;204;p1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52481825" name="Google Shape;205;p10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789825" name="Google Shape;217;p1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62446992" name="Google Shape;218;p1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45953" name="Google Shape;232;p1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32914688" name="Google Shape;233;p13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722946" name="Google Shape;244;p1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86533782" name="Google Shape;245;p14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897997" name="Google Shape;264;p1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36953008" name="Google Shape;265;p15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779956" name="Google Shape;12;p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64453753" name="Google Shape;13;p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406143" name="Google Shape;14;p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281673" name="Google Shape;16;p3"/>
          <p:cNvSpPr txBox="1"/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61134767" name="Google Shape;17;p3"/>
          <p:cNvSpPr txBox="1"/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95411942" name="Google Shape;18;p3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290567" name="Google Shape;19;p3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61595426" name="Google Shape;20;p3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300809" name="Google Shape;22;p4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28734984" name="Google Shape;23;p4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83728633" name="Google Shape;24;p4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24915032" name="Google Shape;25;p4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27369017" name="Google Shape;26;p4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040343" name="Google Shape;28;p5"/>
          <p:cNvSpPr txBox="1"/>
          <p:nvPr>
            <p:ph type="title"/>
          </p:nvPr>
        </p:nvSpPr>
        <p:spPr bwMode="auto"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885475" name="Google Shape;29;p5"/>
          <p:cNvSpPr txBox="1"/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45541778" name="Google Shape;30;p5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65195969" name="Google Shape;31;p5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51640534" name="Google Shape;32;p5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711258" name="Google Shape;34;p6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5141863" name="Google Shape;35;p6"/>
          <p:cNvSpPr txBox="1"/>
          <p:nvPr>
            <p:ph type="body" idx="1"/>
          </p:nvPr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456120089" name="Google Shape;36;p6"/>
          <p:cNvSpPr txBox="1"/>
          <p:nvPr>
            <p:ph type="body" idx="2"/>
          </p:nvPr>
        </p:nvSpPr>
        <p:spPr bwMode="auto"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873543598" name="Google Shape;37;p6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52280307" name="Google Shape;38;p6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13303050" name="Google Shape;39;p6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43328" name="Google Shape;41;p7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2360856" name="Google Shape;42;p7"/>
          <p:cNvSpPr txBox="1"/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968500321" name="Google Shape;43;p7"/>
          <p:cNvSpPr txBox="1"/>
          <p:nvPr>
            <p:ph type="body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692192259" name="Google Shape;44;p7"/>
          <p:cNvSpPr txBox="1"/>
          <p:nvPr>
            <p:ph type="body" idx="3"/>
          </p:nvPr>
        </p:nvSpPr>
        <p:spPr bwMode="auto"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077790117" name="Google Shape;45;p7"/>
          <p:cNvSpPr txBox="1"/>
          <p:nvPr>
            <p:ph type="body" idx="4"/>
          </p:nvPr>
        </p:nvSpPr>
        <p:spPr bwMode="auto"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797576479" name="Google Shape;46;p7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0555924" name="Google Shape;47;p7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79251368" name="Google Shape;48;p7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453026" name="Google Shape;50;p8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69278480" name="Google Shape;51;p8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82315188" name="Google Shape;52;p8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13002574" name="Google Shape;53;p8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098738" name="Google Shape;55;p9"/>
          <p:cNvSpPr txBox="1"/>
          <p:nvPr>
            <p:ph type="title"/>
          </p:nvPr>
        </p:nvSpPr>
        <p:spPr bwMode="auto"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02402531" name="Google Shape;56;p9"/>
          <p:cNvSpPr txBox="1"/>
          <p:nvPr>
            <p:ph type="body" idx="1"/>
          </p:nvPr>
        </p:nvSpPr>
        <p:spPr bwMode="auto"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893939116" name="Google Shape;57;p9"/>
          <p:cNvSpPr txBox="1"/>
          <p:nvPr>
            <p:ph type="body" idx="2"/>
          </p:nvPr>
        </p:nvSpPr>
        <p:spPr bwMode="auto"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804815687" name="Google Shape;58;p9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7036713" name="Google Shape;59;p9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03340298" name="Google Shape;60;p9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927967" name="Google Shape;62;p10"/>
          <p:cNvSpPr txBox="1"/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80729141" name="Google Shape;63;p10"/>
          <p:cNvSpPr/>
          <p:nvPr>
            <p:ph type="pic" idx="2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251871" name="Google Shape;64;p10"/>
          <p:cNvSpPr txBox="1"/>
          <p:nvPr>
            <p:ph type="body" idx="1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1082160305" name="Google Shape;65;p10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21759738" name="Google Shape;66;p10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02067051" name="Google Shape;67;p10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968209" name="Google Shape;69;p1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39678444" name="Google Shape;70;p11"/>
          <p:cNvSpPr txBox="1"/>
          <p:nvPr>
            <p:ph type="body" idx="1"/>
          </p:nvPr>
        </p:nvSpPr>
        <p:spPr bwMode="auto"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40496582" name="Google Shape;71;p1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52984513" name="Google Shape;72;p1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6002678" name="Google Shape;73;p1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614692" name="Google Shape;75;p12"/>
          <p:cNvSpPr txBox="1"/>
          <p:nvPr>
            <p:ph type="title"/>
          </p:nvPr>
        </p:nvSpPr>
        <p:spPr bwMode="auto"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9988388" name="Google Shape;76;p12"/>
          <p:cNvSpPr txBox="1"/>
          <p:nvPr>
            <p:ph type="body" idx="1"/>
          </p:nvPr>
        </p:nvSpPr>
        <p:spPr bwMode="auto"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20217170" name="Google Shape;77;p1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55995867" name="Google Shape;78;p1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37857634" name="Google Shape;79;p1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435304" name="Google Shape;6;p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007343521" name="Google Shape;7;p1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799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0376769" name="Google Shape;8;p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29568907" name="Google Shape;9;p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5860796" name="Google Shape;10;p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4185235" name="Google Shape;84;p13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2485246" name="Google Shape;85;p13"/>
          <p:cNvSpPr txBox="1"/>
          <p:nvPr/>
        </p:nvSpPr>
        <p:spPr bwMode="auto">
          <a:xfrm>
            <a:off x="3462337" y="1630858"/>
            <a:ext cx="52673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</a:rPr>
              <a:t>COLLEGE OF ENGINEERING</a:t>
            </a:r>
            <a:endParaRPr/>
          </a:p>
        </p:txBody>
      </p:sp>
      <p:sp>
        <p:nvSpPr>
          <p:cNvPr id="1605024052" name="Google Shape;86;p13"/>
          <p:cNvSpPr txBox="1"/>
          <p:nvPr/>
        </p:nvSpPr>
        <p:spPr bwMode="auto">
          <a:xfrm flipH="0" flipV="0">
            <a:off x="1568499" y="2088057"/>
            <a:ext cx="9250553" cy="1810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54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</a:rPr>
              <a:t>Distributed File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</a:br>
            <a:r>
              <a:rPr lang="en-US" sz="54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</a:rPr>
              <a:t> Transfer System</a:t>
            </a:r>
            <a:endParaRPr/>
          </a:p>
        </p:txBody>
      </p:sp>
      <p:sp>
        <p:nvSpPr>
          <p:cNvPr id="1314402089" name="Google Shape;87;p13"/>
          <p:cNvSpPr txBox="1"/>
          <p:nvPr/>
        </p:nvSpPr>
        <p:spPr bwMode="auto">
          <a:xfrm>
            <a:off x="3330653" y="4025929"/>
            <a:ext cx="52673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Addis Ababa Science and Technology University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</a:b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Department of Software Engineering</a:t>
            </a:r>
            <a:endParaRPr/>
          </a:p>
        </p:txBody>
      </p:sp>
      <p:sp>
        <p:nvSpPr>
          <p:cNvPr id="7223319" name="Google Shape;88;p13"/>
          <p:cNvSpPr txBox="1"/>
          <p:nvPr/>
        </p:nvSpPr>
        <p:spPr bwMode="auto">
          <a:xfrm>
            <a:off x="3462337" y="5036641"/>
            <a:ext cx="52673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Selahadin D. • Tileksew M. • Bereket K.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9806241" name="Google Shape;93;p14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2090484" name="Google Shape;94;p14"/>
          <p:cNvSpPr/>
          <p:nvPr/>
        </p:nvSpPr>
        <p:spPr bwMode="auto">
          <a:xfrm>
            <a:off x="5715000" y="2767012"/>
            <a:ext cx="762000" cy="571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342000" name="Google Shape;95;p14"/>
          <p:cNvSpPr txBox="1"/>
          <p:nvPr/>
        </p:nvSpPr>
        <p:spPr bwMode="auto">
          <a:xfrm>
            <a:off x="2435542" y="3052762"/>
            <a:ext cx="7320914" cy="733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</a:rPr>
              <a:t>Foundations &amp; Overview</a:t>
            </a:r>
            <a:endParaRPr/>
          </a:p>
        </p:txBody>
      </p:sp>
      <p:sp>
        <p:nvSpPr>
          <p:cNvPr id="1126720199" name="Google Shape;96;p14"/>
          <p:cNvSpPr txBox="1"/>
          <p:nvPr/>
        </p:nvSpPr>
        <p:spPr bwMode="auto">
          <a:xfrm>
            <a:off x="2609850" y="3938587"/>
            <a:ext cx="69723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Introduction to the distributed application model and core shared objectives.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285336" name="Google Shape;101;p15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057728" name="Google Shape;102;p15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6381750" y="1966912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1746825" name="Google Shape;103;p15"/>
          <p:cNvSpPr txBox="1"/>
          <p:nvPr/>
        </p:nvSpPr>
        <p:spPr bwMode="auto">
          <a:xfrm>
            <a:off x="762000" y="2824162"/>
            <a:ext cx="5048399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The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File </a:t>
            </a:r>
            <a:r>
              <a:rPr lang="en-US" sz="1500" b="1">
                <a:solidFill>
                  <a:srgbClr val="475569"/>
                </a:solidFill>
                <a:latin typeface="Inter"/>
                <a:ea typeface="Inter"/>
                <a:cs typeface="Inter"/>
              </a:rPr>
              <a:t>Transfer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System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is a distributed application that enables users to share files across a network through both server-mediated and direct peer-to-peer (P2P) transfers.</a:t>
            </a:r>
            <a:endParaRPr/>
          </a:p>
        </p:txBody>
      </p:sp>
      <p:sp>
        <p:nvSpPr>
          <p:cNvPr id="1810551387" name="Google Shape;104;p15"/>
          <p:cNvSpPr txBox="1"/>
          <p:nvPr/>
        </p:nvSpPr>
        <p:spPr bwMode="auto">
          <a:xfrm>
            <a:off x="762000" y="4005262"/>
            <a:ext cx="50482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By leveraging a hybrid architecture, the system balances the reliability of central management with the speed of decentralized distribution.</a:t>
            </a:r>
            <a:endParaRPr/>
          </a:p>
        </p:txBody>
      </p:sp>
      <p:pic>
        <p:nvPicPr>
          <p:cNvPr id="1592959583" name="Google Shape;105;p15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381750" y="1966912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5205660" name="Google Shape;106;p15"/>
          <p:cNvSpPr txBox="1"/>
          <p:nvPr/>
        </p:nvSpPr>
        <p:spPr bwMode="auto">
          <a:xfrm>
            <a:off x="990600" y="762000"/>
            <a:ext cx="1096137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</a:rPr>
              <a:t>System Overview</a:t>
            </a:r>
            <a:endParaRPr/>
          </a:p>
        </p:txBody>
      </p:sp>
      <p:sp>
        <p:nvSpPr>
          <p:cNvPr id="1405174309" name="Google Shape;107;p15"/>
          <p:cNvSpPr/>
          <p:nvPr/>
        </p:nvSpPr>
        <p:spPr bwMode="auto">
          <a:xfrm>
            <a:off x="762000" y="762000"/>
            <a:ext cx="76200" cy="5048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3677030" name="Google Shape;112;p16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296834" name="Google Shape;113;p16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762000" y="2371725"/>
            <a:ext cx="34035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813541" name="Google Shape;114;p16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4394150" y="2371725"/>
            <a:ext cx="34035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633574" name="Google Shape;115;p16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026300" y="2371725"/>
            <a:ext cx="340355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413856585" name="Google Shape;116;p16"/>
          <p:cNvSpPr txBox="1"/>
          <p:nvPr/>
        </p:nvSpPr>
        <p:spPr bwMode="auto">
          <a:xfrm>
            <a:off x="1006952" y="3438525"/>
            <a:ext cx="291364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059669"/>
                </a:solidFill>
                <a:latin typeface="Urbanist"/>
                <a:ea typeface="Urbanist"/>
                <a:cs typeface="Urbanist"/>
              </a:rPr>
              <a:t>Socket Interop</a:t>
            </a:r>
            <a:endParaRPr/>
          </a:p>
        </p:txBody>
      </p:sp>
      <p:sp>
        <p:nvSpPr>
          <p:cNvPr id="992274509" name="Google Shape;117;p16"/>
          <p:cNvSpPr txBox="1"/>
          <p:nvPr/>
        </p:nvSpPr>
        <p:spPr bwMode="auto">
          <a:xfrm>
            <a:off x="1076325" y="3876675"/>
            <a:ext cx="277489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Implementing a reliable file sharing system using Java Sockets for robust connectivity.</a:t>
            </a:r>
            <a:endParaRPr/>
          </a:p>
        </p:txBody>
      </p:sp>
      <p:sp>
        <p:nvSpPr>
          <p:cNvPr id="393582305" name="Google Shape;118;p16"/>
          <p:cNvSpPr txBox="1"/>
          <p:nvPr/>
        </p:nvSpPr>
        <p:spPr bwMode="auto">
          <a:xfrm>
            <a:off x="4639102" y="3438525"/>
            <a:ext cx="291364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059669"/>
                </a:solidFill>
                <a:latin typeface="Urbanist"/>
                <a:ea typeface="Urbanist"/>
                <a:cs typeface="Urbanist"/>
              </a:rPr>
              <a:t>Dual Protocols</a:t>
            </a:r>
            <a:endParaRPr/>
          </a:p>
        </p:txBody>
      </p:sp>
      <p:sp>
        <p:nvSpPr>
          <p:cNvPr id="1504624645" name="Google Shape;119;p16"/>
          <p:cNvSpPr txBox="1"/>
          <p:nvPr/>
        </p:nvSpPr>
        <p:spPr bwMode="auto">
          <a:xfrm>
            <a:off x="4708475" y="3876675"/>
            <a:ext cx="277489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Full support for both TCP (Reliable) and UDP (Efficient) transfer protocols.</a:t>
            </a:r>
            <a:endParaRPr/>
          </a:p>
        </p:txBody>
      </p:sp>
      <p:sp>
        <p:nvSpPr>
          <p:cNvPr id="676115025" name="Google Shape;120;p16"/>
          <p:cNvSpPr txBox="1"/>
          <p:nvPr/>
        </p:nvSpPr>
        <p:spPr bwMode="auto">
          <a:xfrm>
            <a:off x="8271253" y="3438525"/>
            <a:ext cx="291364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059669"/>
                </a:solidFill>
                <a:latin typeface="Urbanist"/>
                <a:ea typeface="Urbanist"/>
                <a:cs typeface="Urbanist"/>
              </a:rPr>
              <a:t>P2P Sharing</a:t>
            </a:r>
            <a:endParaRPr/>
          </a:p>
        </p:txBody>
      </p:sp>
      <p:sp>
        <p:nvSpPr>
          <p:cNvPr id="231063711" name="Google Shape;121;p16"/>
          <p:cNvSpPr txBox="1"/>
          <p:nvPr/>
        </p:nvSpPr>
        <p:spPr bwMode="auto">
          <a:xfrm>
            <a:off x="8340625" y="3876675"/>
            <a:ext cx="277489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Direct peer-to-peer file sharing between clients to reduce server load.</a:t>
            </a:r>
            <a:endParaRPr/>
          </a:p>
        </p:txBody>
      </p:sp>
      <p:pic>
        <p:nvPicPr>
          <p:cNvPr id="1149345570" name="Google Shape;122;p16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2177950" y="27336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913738" name="Google Shape;123;p16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5895826" y="273367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9079351" name="Google Shape;124;p16" descr="image.png"/>
          <p:cNvPicPr/>
          <p:nvPr/>
        </p:nvPicPr>
        <p:blipFill rotWithShape="1">
          <a:blip r:embed="rId9">
            <a:alphaModFix/>
          </a:blip>
          <a:srcRect l="0" t="0" r="0" b="0"/>
          <a:stretch/>
        </p:blipFill>
        <p:spPr bwMode="auto">
          <a:xfrm>
            <a:off x="9442250" y="273367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330015" name="Google Shape;125;p16"/>
          <p:cNvSpPr txBox="1"/>
          <p:nvPr/>
        </p:nvSpPr>
        <p:spPr bwMode="auto">
          <a:xfrm>
            <a:off x="990600" y="762000"/>
            <a:ext cx="1096137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</a:rPr>
              <a:t>Core Objectives</a:t>
            </a:r>
            <a:endParaRPr/>
          </a:p>
        </p:txBody>
      </p:sp>
      <p:sp>
        <p:nvSpPr>
          <p:cNvPr id="1103531855" name="Google Shape;126;p16"/>
          <p:cNvSpPr/>
          <p:nvPr/>
        </p:nvSpPr>
        <p:spPr bwMode="auto">
          <a:xfrm>
            <a:off x="762000" y="762000"/>
            <a:ext cx="76200" cy="5048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0948210" name="Google Shape;131;p17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655424" name="Google Shape;132;p17"/>
          <p:cNvSpPr txBox="1"/>
          <p:nvPr/>
        </p:nvSpPr>
        <p:spPr bwMode="auto">
          <a:xfrm>
            <a:off x="1219200" y="2709862"/>
            <a:ext cx="10210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Online Status Tracking: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Real-time registration and monitoring of active clients.</a:t>
            </a:r>
            <a:endParaRPr/>
          </a:p>
        </p:txBody>
      </p:sp>
      <p:sp>
        <p:nvSpPr>
          <p:cNvPr id="1634521201" name="Google Shape;133;p17"/>
          <p:cNvSpPr txBox="1"/>
          <p:nvPr/>
        </p:nvSpPr>
        <p:spPr bwMode="auto">
          <a:xfrm>
            <a:off x="1219200" y="3205162"/>
            <a:ext cx="10210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Dual Upload Modes: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File uploads to central server via TCP/UDP protocols.</a:t>
            </a:r>
            <a:endParaRPr/>
          </a:p>
        </p:txBody>
      </p:sp>
      <p:sp>
        <p:nvSpPr>
          <p:cNvPr id="1587768859" name="Google Shape;134;p17"/>
          <p:cNvSpPr txBox="1"/>
          <p:nvPr/>
        </p:nvSpPr>
        <p:spPr bwMode="auto">
          <a:xfrm>
            <a:off x="1219200" y="3700461"/>
            <a:ext cx="10210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Peer Discovery: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Seamlessly browse and download files directly from other clients.</a:t>
            </a:r>
            <a:endParaRPr/>
          </a:p>
        </p:txBody>
      </p:sp>
      <p:sp>
        <p:nvSpPr>
          <p:cNvPr id="1482183321" name="Google Shape;135;p17"/>
          <p:cNvSpPr txBox="1"/>
          <p:nvPr/>
        </p:nvSpPr>
        <p:spPr bwMode="auto">
          <a:xfrm>
            <a:off x="1219200" y="4195762"/>
            <a:ext cx="10210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Shared Folder Sync: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Automatic file sharing through dedicated local folders.</a:t>
            </a:r>
            <a:endParaRPr/>
          </a:p>
        </p:txBody>
      </p:sp>
      <p:sp>
        <p:nvSpPr>
          <p:cNvPr id="1648690719" name="Google Shape;136;p17"/>
          <p:cNvSpPr txBox="1"/>
          <p:nvPr/>
        </p:nvSpPr>
        <p:spPr bwMode="auto">
          <a:xfrm>
            <a:off x="1219200" y="4691062"/>
            <a:ext cx="10210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Visual Feedback: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Real-time progress indicators for all active transfers.</a:t>
            </a:r>
            <a:endParaRPr/>
          </a:p>
        </p:txBody>
      </p:sp>
      <p:pic>
        <p:nvPicPr>
          <p:cNvPr id="2036403157" name="Google Shape;137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762000" y="27384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279231" name="Google Shape;138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762000" y="32337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8471804" name="Google Shape;139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762000" y="37290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9530697" name="Google Shape;140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762000" y="42243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8684002" name="Google Shape;141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762000" y="47196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3680945" name="Google Shape;142;p17"/>
          <p:cNvSpPr txBox="1"/>
          <p:nvPr/>
        </p:nvSpPr>
        <p:spPr bwMode="auto">
          <a:xfrm>
            <a:off x="990600" y="762000"/>
            <a:ext cx="1096137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</a:rPr>
              <a:t>Key System Features</a:t>
            </a:r>
            <a:endParaRPr/>
          </a:p>
        </p:txBody>
      </p:sp>
      <p:sp>
        <p:nvSpPr>
          <p:cNvPr id="943439336" name="Google Shape;143;p17"/>
          <p:cNvSpPr/>
          <p:nvPr/>
        </p:nvSpPr>
        <p:spPr bwMode="auto">
          <a:xfrm>
            <a:off x="762000" y="762000"/>
            <a:ext cx="76200" cy="5048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7840505" name="Google Shape;148;p18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2977" name="Google Shape;149;p18"/>
          <p:cNvSpPr/>
          <p:nvPr/>
        </p:nvSpPr>
        <p:spPr bwMode="auto">
          <a:xfrm>
            <a:off x="5715000" y="2767012"/>
            <a:ext cx="762000" cy="571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9660841" name="Google Shape;150;p18"/>
          <p:cNvSpPr txBox="1"/>
          <p:nvPr/>
        </p:nvSpPr>
        <p:spPr bwMode="auto">
          <a:xfrm>
            <a:off x="2245518" y="3052762"/>
            <a:ext cx="7700962" cy="733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</a:rPr>
              <a:t>Architecture &amp; Protocols</a:t>
            </a:r>
            <a:endParaRPr/>
          </a:p>
        </p:txBody>
      </p:sp>
      <p:sp>
        <p:nvSpPr>
          <p:cNvPr id="688465735" name="Google Shape;151;p18"/>
          <p:cNvSpPr txBox="1"/>
          <p:nvPr/>
        </p:nvSpPr>
        <p:spPr bwMode="auto">
          <a:xfrm>
            <a:off x="2428875" y="3938587"/>
            <a:ext cx="7334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Deep dive into the hybrid networking model and command communication layer.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5679046" name="Google Shape;156;p19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081941" name="Google Shape;157;p19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6381750" y="1966912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244191" name="Google Shape;158;p19"/>
          <p:cNvSpPr txBox="1"/>
          <p:nvPr/>
        </p:nvSpPr>
        <p:spPr bwMode="auto">
          <a:xfrm>
            <a:off x="762000" y="2547937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059669"/>
                </a:solidFill>
                <a:latin typeface="Urbanist"/>
                <a:ea typeface="Urbanist"/>
                <a:cs typeface="Urbanist"/>
              </a:rPr>
              <a:t>Hybrid Client-Server / P2P</a:t>
            </a:r>
            <a:endParaRPr/>
          </a:p>
        </p:txBody>
      </p:sp>
      <p:sp>
        <p:nvSpPr>
          <p:cNvPr id="869552750" name="Google Shape;159;p19"/>
          <p:cNvSpPr txBox="1"/>
          <p:nvPr/>
        </p:nvSpPr>
        <p:spPr bwMode="auto">
          <a:xfrm>
            <a:off x="762000" y="2986086"/>
            <a:ext cx="50482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The system follows a directory service model where the Central Server handles metadata, while binary data flows between clients.</a:t>
            </a:r>
            <a:endParaRPr/>
          </a:p>
        </p:txBody>
      </p:sp>
      <p:sp>
        <p:nvSpPr>
          <p:cNvPr id="1488527776" name="Google Shape;160;p19"/>
          <p:cNvSpPr txBox="1"/>
          <p:nvPr/>
        </p:nvSpPr>
        <p:spPr bwMode="auto">
          <a:xfrm>
            <a:off x="762000" y="3900487"/>
            <a:ext cx="5048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Server (Port 5000):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Handles client registry, peer discovery, and global directory.</a:t>
            </a:r>
            <a:endParaRPr/>
          </a:p>
        </p:txBody>
      </p:sp>
      <p:sp>
        <p:nvSpPr>
          <p:cNvPr id="18187083" name="Google Shape;161;p19"/>
          <p:cNvSpPr txBox="1"/>
          <p:nvPr/>
        </p:nvSpPr>
        <p:spPr bwMode="auto">
          <a:xfrm>
            <a:off x="762000" y="4548187"/>
            <a:ext cx="5048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Clients (Port 12346):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Executes direct data exchange and hosts local file servers.</a:t>
            </a:r>
            <a:endParaRPr/>
          </a:p>
        </p:txBody>
      </p:sp>
      <p:sp>
        <p:nvSpPr>
          <p:cNvPr id="311472446" name="Google Shape;162;p19"/>
          <p:cNvSpPr txBox="1"/>
          <p:nvPr/>
        </p:nvSpPr>
        <p:spPr bwMode="auto">
          <a:xfrm>
            <a:off x="990600" y="762000"/>
            <a:ext cx="1096137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</a:rPr>
              <a:t>Overall Architecture</a:t>
            </a:r>
            <a:endParaRPr/>
          </a:p>
        </p:txBody>
      </p:sp>
      <p:sp>
        <p:nvSpPr>
          <p:cNvPr id="1653495647" name="Google Shape;163;p19"/>
          <p:cNvSpPr/>
          <p:nvPr/>
        </p:nvSpPr>
        <p:spPr bwMode="auto">
          <a:xfrm>
            <a:off x="762000" y="762000"/>
            <a:ext cx="76200" cy="5048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82433736" name="Google Shape;164;p19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5945925" y="2057300"/>
            <a:ext cx="4722074" cy="371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1264514" name="Google Shape;169;p20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4416876" name="Google Shape;170;p20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762000" y="2447925"/>
            <a:ext cx="521970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4703538" name="Google Shape;171;p20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210300" y="2447925"/>
            <a:ext cx="521970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3597696" name="Google Shape;172;p20"/>
          <p:cNvSpPr txBox="1"/>
          <p:nvPr/>
        </p:nvSpPr>
        <p:spPr bwMode="auto">
          <a:xfrm>
            <a:off x="961548" y="3514725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059669"/>
                </a:solidFill>
                <a:latin typeface="Urbanist"/>
                <a:ea typeface="Urbanist"/>
                <a:cs typeface="Urbanist"/>
              </a:rPr>
              <a:t>TCP (Reliable)</a:t>
            </a:r>
            <a:endParaRPr/>
          </a:p>
        </p:txBody>
      </p:sp>
      <p:sp>
        <p:nvSpPr>
          <p:cNvPr id="837831984" name="Google Shape;173;p20"/>
          <p:cNvSpPr txBox="1"/>
          <p:nvPr/>
        </p:nvSpPr>
        <p:spPr bwMode="auto">
          <a:xfrm>
            <a:off x="1076325" y="3952875"/>
            <a:ext cx="45910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Guaranteed delivery and error checking. Used for commands and critical file transfers.</a:t>
            </a:r>
            <a:endParaRPr/>
          </a:p>
        </p:txBody>
      </p:sp>
      <p:sp>
        <p:nvSpPr>
          <p:cNvPr id="1143948496" name="Google Shape;174;p20"/>
          <p:cNvSpPr txBox="1"/>
          <p:nvPr/>
        </p:nvSpPr>
        <p:spPr bwMode="auto">
          <a:xfrm>
            <a:off x="6409848" y="3514725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059669"/>
                </a:solidFill>
                <a:latin typeface="Urbanist"/>
                <a:ea typeface="Urbanist"/>
                <a:cs typeface="Urbanist"/>
              </a:rPr>
              <a:t>UDP (Efficient)</a:t>
            </a:r>
            <a:endParaRPr/>
          </a:p>
        </p:txBody>
      </p:sp>
      <p:sp>
        <p:nvSpPr>
          <p:cNvPr id="1475744307" name="Google Shape;175;p20"/>
          <p:cNvSpPr txBox="1"/>
          <p:nvPr/>
        </p:nvSpPr>
        <p:spPr bwMode="auto">
          <a:xfrm>
            <a:off x="6524625" y="3952875"/>
            <a:ext cx="45910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Fast file uploads with lower overhead. Ideal for non-critical high-speed transmission.</a:t>
            </a:r>
            <a:endParaRPr/>
          </a:p>
        </p:txBody>
      </p:sp>
      <p:pic>
        <p:nvPicPr>
          <p:cNvPr id="189289054" name="Google Shape;176;p20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3143250" y="2809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325493" name="Google Shape;177;p20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8648700" y="2809875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9534947" name="Google Shape;178;p20"/>
          <p:cNvSpPr txBox="1"/>
          <p:nvPr/>
        </p:nvSpPr>
        <p:spPr bwMode="auto">
          <a:xfrm>
            <a:off x="990600" y="762000"/>
            <a:ext cx="1096137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</a:rPr>
              <a:t>Network Protocols</a:t>
            </a:r>
            <a:endParaRPr/>
          </a:p>
        </p:txBody>
      </p:sp>
      <p:sp>
        <p:nvSpPr>
          <p:cNvPr id="1805670639" name="Google Shape;179;p20"/>
          <p:cNvSpPr/>
          <p:nvPr/>
        </p:nvSpPr>
        <p:spPr bwMode="auto">
          <a:xfrm>
            <a:off x="762000" y="762000"/>
            <a:ext cx="76200" cy="5048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3221022" name="Google Shape;184;p21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7459888" name="Google Shape;185;p21"/>
          <p:cNvGraphicFramePr>
            <a:graphicFrameLocks xmlns:a="http://schemas.openxmlformats.org/drawingml/2006/main"/>
          </p:cNvGraphicFramePr>
          <p:nvPr/>
        </p:nvGraphicFramePr>
        <p:xfrm rot="0">
          <a:off x="1905000" y="2414586"/>
          <a:ext cx="3000000" cy="30000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{34BA563B-939F-41CB-9A91-53BBDD1713C1}</a:tableStyleId>
                <a:noFill/>
              </a:tblPr>
              <a:tblGrid>
                <a:gridCol w="1533525"/>
                <a:gridCol w="1752599"/>
                <a:gridCol w="5095875"/>
              </a:tblGrid>
              <a:tr h="58292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 SemiBold"/>
                          <a:ea typeface="Inter SemiBold"/>
                          <a:cs typeface="Inter SemiBold"/>
                        </a:rPr>
                        <a:t>Command</a:t>
                      </a:r>
                      <a:endParaRPr/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 SemiBold"/>
                          <a:ea typeface="Inter SemiBold"/>
                          <a:cs typeface="Inter SemiBold"/>
                        </a:rPr>
                        <a:t>Direction</a:t>
                      </a:r>
                      <a:endParaRPr/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 SemiBold"/>
                          <a:ea typeface="Inter SemiBold"/>
                          <a:cs typeface="Inter SemiBold"/>
                        </a:rPr>
                        <a:t>Functionality</a:t>
                      </a:r>
                      <a:endParaRPr/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58292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REGISTER</a:t>
                      </a:r>
                      <a:endParaRPr/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Client → Server</a:t>
                      </a:r>
                      <a:endParaRPr/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Announce presence and P2P port to registry.</a:t>
                      </a:r>
                      <a:endParaRPr/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</a:tr>
              <a:tr h="58292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GET CLIENTS</a:t>
                      </a:r>
                      <a:endParaRPr/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Client → Server</a:t>
                      </a:r>
                      <a:endParaRPr/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Retrieve the current list of active online peers.</a:t>
                      </a:r>
                      <a:endParaRPr/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</a:tr>
              <a:tr h="58292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DIR</a:t>
                      </a:r>
                      <a:endParaRPr/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Client ↔ Server</a:t>
                      </a:r>
                      <a:endParaRPr/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List available files stored on the central repository.</a:t>
                      </a:r>
                      <a:endParaRPr/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</a:tr>
              <a:tr h="582925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RECEIVE FILE</a:t>
                      </a:r>
                      <a:endParaRPr/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Client → Client</a:t>
                      </a:r>
                      <a:endParaRPr/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</a:rPr>
                        <a:t>Initiate the binary transfer sequence between peers.</a:t>
                      </a:r>
                      <a:endParaRPr/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86410440" name="Google Shape;186;p21"/>
          <p:cNvSpPr/>
          <p:nvPr/>
        </p:nvSpPr>
        <p:spPr bwMode="auto">
          <a:xfrm>
            <a:off x="1905000" y="2976562"/>
            <a:ext cx="15335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4654791" name="Google Shape;187;p21"/>
          <p:cNvSpPr/>
          <p:nvPr/>
        </p:nvSpPr>
        <p:spPr bwMode="auto">
          <a:xfrm>
            <a:off x="3438525" y="2976562"/>
            <a:ext cx="175259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5578734" name="Google Shape;188;p21"/>
          <p:cNvSpPr/>
          <p:nvPr/>
        </p:nvSpPr>
        <p:spPr bwMode="auto">
          <a:xfrm>
            <a:off x="5191125" y="2976562"/>
            <a:ext cx="50958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3246975" name="Google Shape;189;p21"/>
          <p:cNvSpPr/>
          <p:nvPr/>
        </p:nvSpPr>
        <p:spPr bwMode="auto">
          <a:xfrm>
            <a:off x="1905000" y="3571875"/>
            <a:ext cx="1533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3327522" name="Google Shape;190;p21"/>
          <p:cNvSpPr/>
          <p:nvPr/>
        </p:nvSpPr>
        <p:spPr bwMode="auto">
          <a:xfrm>
            <a:off x="3438525" y="3571875"/>
            <a:ext cx="17525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84010030" name="Google Shape;191;p21"/>
          <p:cNvSpPr/>
          <p:nvPr/>
        </p:nvSpPr>
        <p:spPr bwMode="auto">
          <a:xfrm>
            <a:off x="5191125" y="35718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8210344" name="Google Shape;192;p21"/>
          <p:cNvSpPr/>
          <p:nvPr/>
        </p:nvSpPr>
        <p:spPr bwMode="auto">
          <a:xfrm>
            <a:off x="1905000" y="4152900"/>
            <a:ext cx="1533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77329240" name="Google Shape;193;p21"/>
          <p:cNvSpPr/>
          <p:nvPr/>
        </p:nvSpPr>
        <p:spPr bwMode="auto">
          <a:xfrm>
            <a:off x="3438525" y="4152900"/>
            <a:ext cx="17525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42428086" name="Google Shape;194;p21"/>
          <p:cNvSpPr/>
          <p:nvPr/>
        </p:nvSpPr>
        <p:spPr bwMode="auto">
          <a:xfrm>
            <a:off x="5191125" y="415290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8736050" name="Google Shape;195;p21"/>
          <p:cNvSpPr/>
          <p:nvPr/>
        </p:nvSpPr>
        <p:spPr bwMode="auto">
          <a:xfrm>
            <a:off x="1905000" y="4733925"/>
            <a:ext cx="1533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3437742" name="Google Shape;196;p21"/>
          <p:cNvSpPr/>
          <p:nvPr/>
        </p:nvSpPr>
        <p:spPr bwMode="auto">
          <a:xfrm>
            <a:off x="3438525" y="4733925"/>
            <a:ext cx="17525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8845999" name="Google Shape;197;p21"/>
          <p:cNvSpPr/>
          <p:nvPr/>
        </p:nvSpPr>
        <p:spPr bwMode="auto">
          <a:xfrm>
            <a:off x="5191125" y="47339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1756708" name="Google Shape;198;p21"/>
          <p:cNvSpPr/>
          <p:nvPr/>
        </p:nvSpPr>
        <p:spPr bwMode="auto">
          <a:xfrm>
            <a:off x="1905000" y="5314950"/>
            <a:ext cx="1533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5109859" name="Google Shape;199;p21"/>
          <p:cNvSpPr/>
          <p:nvPr/>
        </p:nvSpPr>
        <p:spPr bwMode="auto">
          <a:xfrm>
            <a:off x="3438525" y="5314950"/>
            <a:ext cx="17525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3288977" name="Google Shape;200;p21"/>
          <p:cNvSpPr/>
          <p:nvPr/>
        </p:nvSpPr>
        <p:spPr bwMode="auto">
          <a:xfrm>
            <a:off x="5191125" y="531495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9304236" name="Google Shape;201;p21"/>
          <p:cNvSpPr txBox="1"/>
          <p:nvPr/>
        </p:nvSpPr>
        <p:spPr bwMode="auto">
          <a:xfrm>
            <a:off x="990600" y="762000"/>
            <a:ext cx="1096137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</a:rPr>
              <a:t>Command Protocol Specification</a:t>
            </a:r>
            <a:endParaRPr/>
          </a:p>
        </p:txBody>
      </p:sp>
      <p:sp>
        <p:nvSpPr>
          <p:cNvPr id="2120487294" name="Google Shape;202;p21"/>
          <p:cNvSpPr/>
          <p:nvPr/>
        </p:nvSpPr>
        <p:spPr bwMode="auto">
          <a:xfrm>
            <a:off x="762000" y="762000"/>
            <a:ext cx="76200" cy="5048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4899208" name="Google Shape;207;p22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647913" name="Google Shape;208;p22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762000" y="2671762"/>
            <a:ext cx="504825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704130" name="Google Shape;209;p22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381750" y="2671762"/>
            <a:ext cx="504825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201541" name="Google Shape;210;p22"/>
          <p:cNvSpPr txBox="1"/>
          <p:nvPr/>
        </p:nvSpPr>
        <p:spPr bwMode="auto">
          <a:xfrm>
            <a:off x="1152525" y="3062287"/>
            <a:ext cx="44805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059669"/>
                </a:solidFill>
                <a:latin typeface="Urbanist"/>
                <a:ea typeface="Urbanist"/>
                <a:cs typeface="Urbanist"/>
              </a:rPr>
              <a:t>Server Backend</a:t>
            </a:r>
            <a:endParaRPr/>
          </a:p>
        </p:txBody>
      </p:sp>
      <p:sp>
        <p:nvSpPr>
          <p:cNvPr id="1397399756" name="Google Shape;211;p22"/>
          <p:cNvSpPr txBox="1"/>
          <p:nvPr/>
        </p:nvSpPr>
        <p:spPr bwMode="auto">
          <a:xfrm>
            <a:off x="1152525" y="3500437"/>
            <a:ext cx="42672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Multi-threaded TCP handler processes all commands. UDP listener manages high-speed reception. ClientInfo objects track IP/Port metadata in a global registry.</a:t>
            </a:r>
            <a:endParaRPr/>
          </a:p>
        </p:txBody>
      </p:sp>
      <p:sp>
        <p:nvSpPr>
          <p:cNvPr id="885207979" name="Google Shape;212;p22"/>
          <p:cNvSpPr txBox="1"/>
          <p:nvPr/>
        </p:nvSpPr>
        <p:spPr bwMode="auto">
          <a:xfrm>
            <a:off x="6772275" y="3062287"/>
            <a:ext cx="44805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059669"/>
                </a:solidFill>
                <a:latin typeface="Urbanist"/>
                <a:ea typeface="Urbanist"/>
                <a:cs typeface="Urbanist"/>
              </a:rPr>
              <a:t>Client Engine</a:t>
            </a:r>
            <a:endParaRPr/>
          </a:p>
        </p:txBody>
      </p:sp>
      <p:sp>
        <p:nvSpPr>
          <p:cNvPr id="252651723" name="Google Shape;213;p22"/>
          <p:cNvSpPr txBox="1"/>
          <p:nvPr/>
        </p:nvSpPr>
        <p:spPr bwMode="auto">
          <a:xfrm>
            <a:off x="6772275" y="3500437"/>
            <a:ext cx="42672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Swing-based GUI for interaction. Integrated P2P server on port 12346. Automatic shared folder monitoring and chunk-based file writing logic.</a:t>
            </a:r>
            <a:endParaRPr/>
          </a:p>
        </p:txBody>
      </p:sp>
      <p:sp>
        <p:nvSpPr>
          <p:cNvPr id="1192442526" name="Google Shape;214;p22"/>
          <p:cNvSpPr txBox="1"/>
          <p:nvPr/>
        </p:nvSpPr>
        <p:spPr bwMode="auto">
          <a:xfrm>
            <a:off x="990600" y="762000"/>
            <a:ext cx="1096137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</a:rPr>
              <a:t>System Implementation</a:t>
            </a:r>
            <a:endParaRPr/>
          </a:p>
        </p:txBody>
      </p:sp>
      <p:sp>
        <p:nvSpPr>
          <p:cNvPr id="1561078545" name="Google Shape;215;p22"/>
          <p:cNvSpPr/>
          <p:nvPr/>
        </p:nvSpPr>
        <p:spPr bwMode="auto">
          <a:xfrm>
            <a:off x="762000" y="762000"/>
            <a:ext cx="76200" cy="5048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4141655" name="Google Shape;220;p23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3299925" name="Google Shape;221;p23"/>
          <p:cNvSpPr txBox="1"/>
          <p:nvPr/>
        </p:nvSpPr>
        <p:spPr bwMode="auto">
          <a:xfrm>
            <a:off x="990600" y="762000"/>
            <a:ext cx="456057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</a:rPr>
              <a:t>User Interface Design</a:t>
            </a:r>
            <a:endParaRPr/>
          </a:p>
        </p:txBody>
      </p:sp>
      <p:sp>
        <p:nvSpPr>
          <p:cNvPr id="962358382" name="Google Shape;222;p23"/>
          <p:cNvSpPr/>
          <p:nvPr/>
        </p:nvSpPr>
        <p:spPr bwMode="auto">
          <a:xfrm>
            <a:off x="762000" y="762000"/>
            <a:ext cx="76200" cy="5048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985515" name="Google Shape;223;p23"/>
          <p:cNvSpPr txBox="1"/>
          <p:nvPr/>
        </p:nvSpPr>
        <p:spPr bwMode="auto">
          <a:xfrm>
            <a:off x="1219200" y="1800225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Connection page with auto-ID generation.</a:t>
            </a:r>
            <a:endParaRPr/>
          </a:p>
        </p:txBody>
      </p:sp>
      <p:sp>
        <p:nvSpPr>
          <p:cNvPr id="1354762506" name="Google Shape;224;p23"/>
          <p:cNvSpPr txBox="1"/>
          <p:nvPr/>
        </p:nvSpPr>
        <p:spPr bwMode="auto">
          <a:xfrm>
            <a:off x="1219200" y="2295525"/>
            <a:ext cx="4758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Server Files dashboard with download triggers.</a:t>
            </a:r>
            <a:endParaRPr/>
          </a:p>
        </p:txBody>
      </p:sp>
      <p:sp>
        <p:nvSpPr>
          <p:cNvPr id="734148603" name="Google Shape;225;p23"/>
          <p:cNvSpPr txBox="1"/>
          <p:nvPr/>
        </p:nvSpPr>
        <p:spPr bwMode="auto">
          <a:xfrm>
            <a:off x="1171400" y="2827721"/>
            <a:ext cx="4114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Online Clients tab for peer browsing.</a:t>
            </a:r>
            <a:endParaRPr/>
          </a:p>
        </p:txBody>
      </p:sp>
      <p:sp>
        <p:nvSpPr>
          <p:cNvPr id="1310445098" name="Google Shape;226;p23"/>
          <p:cNvSpPr txBox="1"/>
          <p:nvPr/>
        </p:nvSpPr>
        <p:spPr bwMode="auto">
          <a:xfrm>
            <a:off x="1171400" y="3295650"/>
            <a:ext cx="4114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Real-time progress tracking for all tasks.</a:t>
            </a:r>
            <a:endParaRPr/>
          </a:p>
        </p:txBody>
      </p:sp>
      <p:pic>
        <p:nvPicPr>
          <p:cNvPr id="1976603115" name="Google Shape;227;p23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762000" y="182880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7331320" name="Google Shape;228;p23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762000" y="2324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12143" name="Google Shape;229;p23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747713" y="28194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5918407" name="Google Shape;230;p23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762000" y="33147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2201204" name="Google Shape;235;p24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4086817" name="Google Shape;236;p24"/>
          <p:cNvSpPr txBox="1"/>
          <p:nvPr/>
        </p:nvSpPr>
        <p:spPr bwMode="auto">
          <a:xfrm>
            <a:off x="762000" y="3067050"/>
            <a:ext cx="50482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</a:rPr>
              <a:t>100%</a:t>
            </a:r>
            <a:endParaRPr/>
          </a:p>
        </p:txBody>
      </p:sp>
      <p:sp>
        <p:nvSpPr>
          <p:cNvPr id="1393549157" name="Google Shape;237;p24"/>
          <p:cNvSpPr txBox="1"/>
          <p:nvPr/>
        </p:nvSpPr>
        <p:spPr bwMode="auto">
          <a:xfrm>
            <a:off x="762000" y="4400550"/>
            <a:ext cx="5048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000000"/>
                </a:solidFill>
                <a:latin typeface="Inter SemiBold"/>
                <a:ea typeface="Inter SemiBold"/>
                <a:cs typeface="Inter SemiBold"/>
              </a:rPr>
              <a:t>Data Integrity</a:t>
            </a:r>
            <a:endParaRPr/>
          </a:p>
        </p:txBody>
      </p:sp>
      <p:sp>
        <p:nvSpPr>
          <p:cNvPr id="2062289224" name="Google Shape;238;p24"/>
          <p:cNvSpPr txBox="1"/>
          <p:nvPr/>
        </p:nvSpPr>
        <p:spPr bwMode="auto">
          <a:xfrm>
            <a:off x="6381750" y="2733675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059669"/>
                </a:solidFill>
                <a:latin typeface="Urbanist"/>
                <a:ea typeface="Urbanist"/>
                <a:cs typeface="Urbanist"/>
              </a:rPr>
              <a:t>Robust Error Handling</a:t>
            </a:r>
            <a:endParaRPr/>
          </a:p>
        </p:txBody>
      </p:sp>
      <p:sp>
        <p:nvSpPr>
          <p:cNvPr id="811706537" name="Google Shape;239;p24"/>
          <p:cNvSpPr txBox="1"/>
          <p:nvPr/>
        </p:nvSpPr>
        <p:spPr bwMode="auto">
          <a:xfrm>
            <a:off x="6381750" y="3171825"/>
            <a:ext cx="50482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The system successfully manages server/client disconnections, missing file requests, and simultaneous concurrent transfers without UI blocking.</a:t>
            </a:r>
            <a:endParaRPr/>
          </a:p>
        </p:txBody>
      </p:sp>
      <p:sp>
        <p:nvSpPr>
          <p:cNvPr id="161131494" name="Google Shape;240;p24"/>
          <p:cNvSpPr txBox="1"/>
          <p:nvPr/>
        </p:nvSpPr>
        <p:spPr bwMode="auto">
          <a:xfrm>
            <a:off x="6381750" y="4086225"/>
            <a:ext cx="50482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Implemented SwingUtilities.invokeLater() for thread-safe UI updates during high-intensity networking operations.</a:t>
            </a:r>
            <a:endParaRPr/>
          </a:p>
        </p:txBody>
      </p:sp>
      <p:sp>
        <p:nvSpPr>
          <p:cNvPr id="778146058" name="Google Shape;241;p24"/>
          <p:cNvSpPr txBox="1"/>
          <p:nvPr/>
        </p:nvSpPr>
        <p:spPr bwMode="auto">
          <a:xfrm>
            <a:off x="990600" y="762000"/>
            <a:ext cx="1096137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</a:rPr>
              <a:t>Edge Case Reliability</a:t>
            </a:r>
            <a:endParaRPr/>
          </a:p>
        </p:txBody>
      </p:sp>
      <p:sp>
        <p:nvSpPr>
          <p:cNvPr id="1390173188" name="Google Shape;242;p24"/>
          <p:cNvSpPr/>
          <p:nvPr/>
        </p:nvSpPr>
        <p:spPr bwMode="auto">
          <a:xfrm>
            <a:off x="762000" y="762000"/>
            <a:ext cx="76200" cy="5048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9327836" name="Google Shape;247;p25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4399734" name="Google Shape;248;p25"/>
          <p:cNvSpPr/>
          <p:nvPr/>
        </p:nvSpPr>
        <p:spPr bwMode="auto">
          <a:xfrm>
            <a:off x="762000" y="3871912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8050188" name="Google Shape;249;p25"/>
          <p:cNvSpPr/>
          <p:nvPr/>
        </p:nvSpPr>
        <p:spPr bwMode="auto">
          <a:xfrm>
            <a:off x="1714500" y="39481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6555812" name="Google Shape;250;p25"/>
          <p:cNvSpPr txBox="1"/>
          <p:nvPr/>
        </p:nvSpPr>
        <p:spPr bwMode="auto">
          <a:xfrm>
            <a:off x="708659" y="3709987"/>
            <a:ext cx="22402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059669"/>
                </a:solidFill>
                <a:latin typeface="Urbanist"/>
                <a:ea typeface="Urbanist"/>
                <a:cs typeface="Urbanist"/>
              </a:rPr>
              <a:t>Security</a:t>
            </a:r>
            <a:endParaRPr/>
          </a:p>
        </p:txBody>
      </p:sp>
      <p:sp>
        <p:nvSpPr>
          <p:cNvPr id="1549863368" name="Google Shape;251;p25"/>
          <p:cNvSpPr txBox="1"/>
          <p:nvPr/>
        </p:nvSpPr>
        <p:spPr bwMode="auto">
          <a:xfrm>
            <a:off x="762000" y="4148137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SSL/TLS encryption for all data.</a:t>
            </a:r>
            <a:endParaRPr/>
          </a:p>
        </p:txBody>
      </p:sp>
      <p:sp>
        <p:nvSpPr>
          <p:cNvPr id="1188977293" name="Google Shape;252;p25"/>
          <p:cNvSpPr/>
          <p:nvPr/>
        </p:nvSpPr>
        <p:spPr bwMode="auto">
          <a:xfrm>
            <a:off x="4559200" y="39481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5187007" name="Google Shape;253;p25"/>
          <p:cNvSpPr txBox="1"/>
          <p:nvPr/>
        </p:nvSpPr>
        <p:spPr bwMode="auto">
          <a:xfrm>
            <a:off x="3553360" y="3709987"/>
            <a:ext cx="22402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059669"/>
                </a:solidFill>
                <a:latin typeface="Urbanist"/>
                <a:ea typeface="Urbanist"/>
                <a:cs typeface="Urbanist"/>
              </a:rPr>
              <a:t>Resiliency</a:t>
            </a:r>
            <a:endParaRPr/>
          </a:p>
        </p:txBody>
      </p:sp>
      <p:sp>
        <p:nvSpPr>
          <p:cNvPr id="341616938" name="Google Shape;254;p25"/>
          <p:cNvSpPr txBox="1"/>
          <p:nvPr/>
        </p:nvSpPr>
        <p:spPr bwMode="auto">
          <a:xfrm>
            <a:off x="3606700" y="4148137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Chunking and resumable downloads.</a:t>
            </a:r>
            <a:endParaRPr/>
          </a:p>
        </p:txBody>
      </p:sp>
      <p:sp>
        <p:nvSpPr>
          <p:cNvPr id="603005162" name="Google Shape;255;p25"/>
          <p:cNvSpPr/>
          <p:nvPr/>
        </p:nvSpPr>
        <p:spPr bwMode="auto">
          <a:xfrm>
            <a:off x="7403901" y="39481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1478695" name="Google Shape;256;p25"/>
          <p:cNvSpPr txBox="1"/>
          <p:nvPr/>
        </p:nvSpPr>
        <p:spPr bwMode="auto">
          <a:xfrm>
            <a:off x="6398061" y="3709987"/>
            <a:ext cx="22402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059669"/>
                </a:solidFill>
                <a:latin typeface="Urbanist"/>
                <a:ea typeface="Urbanist"/>
                <a:cs typeface="Urbanist"/>
              </a:rPr>
              <a:t>Efficiency</a:t>
            </a:r>
            <a:endParaRPr/>
          </a:p>
        </p:txBody>
      </p:sp>
      <p:sp>
        <p:nvSpPr>
          <p:cNvPr id="470506939" name="Google Shape;257;p25"/>
          <p:cNvSpPr txBox="1"/>
          <p:nvPr/>
        </p:nvSpPr>
        <p:spPr bwMode="auto">
          <a:xfrm>
            <a:off x="6451401" y="4148137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Bandwidth throttling and search.</a:t>
            </a:r>
            <a:endParaRPr/>
          </a:p>
        </p:txBody>
      </p:sp>
      <p:sp>
        <p:nvSpPr>
          <p:cNvPr id="1090635097" name="Google Shape;258;p25"/>
          <p:cNvSpPr/>
          <p:nvPr/>
        </p:nvSpPr>
        <p:spPr bwMode="auto">
          <a:xfrm>
            <a:off x="10248602" y="39481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6618100" name="Google Shape;259;p25"/>
          <p:cNvSpPr txBox="1"/>
          <p:nvPr/>
        </p:nvSpPr>
        <p:spPr bwMode="auto">
          <a:xfrm>
            <a:off x="9242762" y="3709987"/>
            <a:ext cx="22402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059669"/>
                </a:solidFill>
                <a:latin typeface="Urbanist"/>
                <a:ea typeface="Urbanist"/>
                <a:cs typeface="Urbanist"/>
              </a:rPr>
              <a:t>Auth</a:t>
            </a:r>
            <a:endParaRPr/>
          </a:p>
        </p:txBody>
      </p:sp>
      <p:sp>
        <p:nvSpPr>
          <p:cNvPr id="1987724012" name="Google Shape;260;p25"/>
          <p:cNvSpPr txBox="1"/>
          <p:nvPr/>
        </p:nvSpPr>
        <p:spPr bwMode="auto">
          <a:xfrm>
            <a:off x="9296102" y="4148137"/>
            <a:ext cx="2133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User login and permission system.</a:t>
            </a:r>
            <a:endParaRPr/>
          </a:p>
        </p:txBody>
      </p:sp>
      <p:sp>
        <p:nvSpPr>
          <p:cNvPr id="999395921" name="Google Shape;261;p25"/>
          <p:cNvSpPr txBox="1"/>
          <p:nvPr/>
        </p:nvSpPr>
        <p:spPr bwMode="auto">
          <a:xfrm>
            <a:off x="990600" y="762000"/>
            <a:ext cx="1096137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Urbanist SemiBold"/>
                <a:ea typeface="Urbanist SemiBold"/>
                <a:cs typeface="Urbanist SemiBold"/>
              </a:rPr>
              <a:t>Future Enhancements</a:t>
            </a:r>
            <a:endParaRPr/>
          </a:p>
        </p:txBody>
      </p:sp>
      <p:sp>
        <p:nvSpPr>
          <p:cNvPr id="229484700" name="Google Shape;262;p25"/>
          <p:cNvSpPr/>
          <p:nvPr/>
        </p:nvSpPr>
        <p:spPr bwMode="auto">
          <a:xfrm>
            <a:off x="762000" y="762000"/>
            <a:ext cx="76200" cy="5048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6601748" name="Google Shape;267;p26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9555171" name="Google Shape;268;p26"/>
          <p:cNvSpPr txBox="1"/>
          <p:nvPr/>
        </p:nvSpPr>
        <p:spPr bwMode="auto">
          <a:xfrm>
            <a:off x="3819525" y="2366962"/>
            <a:ext cx="4780597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72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</a:rPr>
              <a:t>Questions?</a:t>
            </a:r>
            <a:endParaRPr/>
          </a:p>
        </p:txBody>
      </p:sp>
      <p:sp>
        <p:nvSpPr>
          <p:cNvPr id="753964801" name="Google Shape;269;p26"/>
          <p:cNvSpPr txBox="1"/>
          <p:nvPr/>
        </p:nvSpPr>
        <p:spPr bwMode="auto">
          <a:xfrm>
            <a:off x="3819525" y="3462337"/>
            <a:ext cx="4552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Thank you for your attention.</a:t>
            </a:r>
            <a:endParaRPr/>
          </a:p>
        </p:txBody>
      </p:sp>
      <p:sp>
        <p:nvSpPr>
          <p:cNvPr id="1372098002" name="Google Shape;270;p26"/>
          <p:cNvSpPr txBox="1"/>
          <p:nvPr/>
        </p:nvSpPr>
        <p:spPr bwMode="auto">
          <a:xfrm>
            <a:off x="3819525" y="4110037"/>
            <a:ext cx="4552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</a:rPr>
              <a:t>Addis Ababa Science and Technology University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</a:br>
            <a:r>
              <a:rPr lang="en-US" sz="12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</a:rPr>
              <a:t> Distributed Systems Project 2024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